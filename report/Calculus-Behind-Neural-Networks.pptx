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96" r:id="rId4"/>
    <p:sldId id="281" r:id="rId5"/>
    <p:sldId id="288" r:id="rId6"/>
    <p:sldId id="292" r:id="rId7"/>
    <p:sldId id="282" r:id="rId8"/>
    <p:sldId id="293" r:id="rId9"/>
    <p:sldId id="294" r:id="rId10"/>
    <p:sldId id="267" r:id="rId11"/>
    <p:sldId id="289" r:id="rId12"/>
    <p:sldId id="290" r:id="rId13"/>
    <p:sldId id="291" r:id="rId14"/>
    <p:sldId id="269" r:id="rId15"/>
    <p:sldId id="297" r:id="rId16"/>
    <p:sldId id="29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36457C-B1B0-4C83-8D8C-531DAE782D03}" v="2" dt="2025-11-29T02:29:48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183" autoAdjust="0"/>
  </p:normalViewPr>
  <p:slideViewPr>
    <p:cSldViewPr snapToGrid="0">
      <p:cViewPr varScale="1">
        <p:scale>
          <a:sx n="69" d="100"/>
          <a:sy n="69" d="100"/>
        </p:scale>
        <p:origin x="12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as Elhaj" userId="909fe75651c023c7" providerId="LiveId" clId="{BCAF93DC-8FE6-4D28-8D56-F37F50A19FF3}"/>
    <pc:docChg chg="undo custSel addSld modSld">
      <pc:chgData name="Enas Elhaj" userId="909fe75651c023c7" providerId="LiveId" clId="{BCAF93DC-8FE6-4D28-8D56-F37F50A19FF3}" dt="2025-11-29T02:28:00.651" v="66"/>
      <pc:docMkLst>
        <pc:docMk/>
      </pc:docMkLst>
      <pc:sldChg chg="modSp mod modNotesTx">
        <pc:chgData name="Enas Elhaj" userId="909fe75651c023c7" providerId="LiveId" clId="{BCAF93DC-8FE6-4D28-8D56-F37F50A19FF3}" dt="2025-11-21T03:19:04.687" v="64" actId="255"/>
        <pc:sldMkLst>
          <pc:docMk/>
          <pc:sldMk cId="379312621" sldId="256"/>
        </pc:sldMkLst>
        <pc:spChg chg="mod">
          <ac:chgData name="Enas Elhaj" userId="909fe75651c023c7" providerId="LiveId" clId="{BCAF93DC-8FE6-4D28-8D56-F37F50A19FF3}" dt="2025-11-21T03:19:04.687" v="64" actId="255"/>
          <ac:spMkLst>
            <pc:docMk/>
            <pc:sldMk cId="379312621" sldId="256"/>
            <ac:spMk id="7" creationId="{97D0264D-1B30-07CD-F7DC-570DD47B4DD6}"/>
          </ac:spMkLst>
        </pc:spChg>
      </pc:sldChg>
      <pc:sldChg chg="modSp mod modNotesTx">
        <pc:chgData name="Enas Elhaj" userId="909fe75651c023c7" providerId="LiveId" clId="{BCAF93DC-8FE6-4D28-8D56-F37F50A19FF3}" dt="2025-11-21T03:17:47.402" v="62" actId="20577"/>
        <pc:sldMkLst>
          <pc:docMk/>
          <pc:sldMk cId="4064718790" sldId="257"/>
        </pc:sldMkLst>
        <pc:spChg chg="mod">
          <ac:chgData name="Enas Elhaj" userId="909fe75651c023c7" providerId="LiveId" clId="{BCAF93DC-8FE6-4D28-8D56-F37F50A19FF3}" dt="2025-11-21T03:13:16.503" v="34" actId="20577"/>
          <ac:spMkLst>
            <pc:docMk/>
            <pc:sldMk cId="4064718790" sldId="257"/>
            <ac:spMk id="3" creationId="{D0A246F1-B999-909C-8B70-CAA17196551A}"/>
          </ac:spMkLst>
        </pc:spChg>
      </pc:sldChg>
      <pc:sldChg chg="modNotesTx">
        <pc:chgData name="Enas Elhaj" userId="909fe75651c023c7" providerId="LiveId" clId="{BCAF93DC-8FE6-4D28-8D56-F37F50A19FF3}" dt="2025-11-21T03:17:31.313" v="60" actId="20577"/>
        <pc:sldMkLst>
          <pc:docMk/>
          <pc:sldMk cId="3265465604" sldId="282"/>
        </pc:sldMkLst>
      </pc:sldChg>
      <pc:sldChg chg="modNotesTx">
        <pc:chgData name="Enas Elhaj" userId="909fe75651c023c7" providerId="LiveId" clId="{BCAF93DC-8FE6-4D28-8D56-F37F50A19FF3}" dt="2025-11-21T03:17:38.749" v="61" actId="20577"/>
        <pc:sldMkLst>
          <pc:docMk/>
          <pc:sldMk cId="2458373582" sldId="288"/>
        </pc:sldMkLst>
      </pc:sldChg>
      <pc:sldChg chg="modNotesTx">
        <pc:chgData name="Enas Elhaj" userId="909fe75651c023c7" providerId="LiveId" clId="{BCAF93DC-8FE6-4D28-8D56-F37F50A19FF3}" dt="2025-11-21T03:17:22.516" v="59" actId="20577"/>
        <pc:sldMkLst>
          <pc:docMk/>
          <pc:sldMk cId="3822338445" sldId="289"/>
        </pc:sldMkLst>
      </pc:sldChg>
      <pc:sldChg chg="modNotesTx">
        <pc:chgData name="Enas Elhaj" userId="909fe75651c023c7" providerId="LiveId" clId="{BCAF93DC-8FE6-4D28-8D56-F37F50A19FF3}" dt="2025-11-21T03:17:17.596" v="57" actId="20577"/>
        <pc:sldMkLst>
          <pc:docMk/>
          <pc:sldMk cId="3622943328" sldId="290"/>
        </pc:sldMkLst>
      </pc:sldChg>
      <pc:sldChg chg="modSp mod modNotesTx">
        <pc:chgData name="Enas Elhaj" userId="909fe75651c023c7" providerId="LiveId" clId="{BCAF93DC-8FE6-4D28-8D56-F37F50A19FF3}" dt="2025-11-21T03:17:13.464" v="56" actId="20577"/>
        <pc:sldMkLst>
          <pc:docMk/>
          <pc:sldMk cId="672267429" sldId="291"/>
        </pc:sldMkLst>
        <pc:spChg chg="mod">
          <ac:chgData name="Enas Elhaj" userId="909fe75651c023c7" providerId="LiveId" clId="{BCAF93DC-8FE6-4D28-8D56-F37F50A19FF3}" dt="2025-11-21T03:15:12.425" v="50"/>
          <ac:spMkLst>
            <pc:docMk/>
            <pc:sldMk cId="672267429" sldId="291"/>
            <ac:spMk id="3" creationId="{7B39ACD4-2038-CF2E-D445-73B42A9DBA91}"/>
          </ac:spMkLst>
        </pc:spChg>
      </pc:sldChg>
      <pc:sldChg chg="addSp modSp mod">
        <pc:chgData name="Enas Elhaj" userId="909fe75651c023c7" providerId="LiveId" clId="{BCAF93DC-8FE6-4D28-8D56-F37F50A19FF3}" dt="2025-11-29T02:28:00.651" v="66"/>
        <pc:sldMkLst>
          <pc:docMk/>
          <pc:sldMk cId="1982579998" sldId="294"/>
        </pc:sldMkLst>
        <pc:picChg chg="add">
          <ac:chgData name="Enas Elhaj" userId="909fe75651c023c7" providerId="LiveId" clId="{BCAF93DC-8FE6-4D28-8D56-F37F50A19FF3}" dt="2025-11-29T02:28:00.651" v="66"/>
          <ac:picMkLst>
            <pc:docMk/>
            <pc:sldMk cId="1982579998" sldId="294"/>
            <ac:picMk id="3" creationId="{F4CE5795-336B-A491-2672-430B0BE08165}"/>
          </ac:picMkLst>
        </pc:picChg>
        <pc:picChg chg="mod">
          <ac:chgData name="Enas Elhaj" userId="909fe75651c023c7" providerId="LiveId" clId="{BCAF93DC-8FE6-4D28-8D56-F37F50A19FF3}" dt="2025-11-29T02:27:42.510" v="65" actId="1076"/>
          <ac:picMkLst>
            <pc:docMk/>
            <pc:sldMk cId="1982579998" sldId="294"/>
            <ac:picMk id="5" creationId="{D0D6C7D4-1F43-CC1A-D091-F74D1F7D999F}"/>
          </ac:picMkLst>
        </pc:picChg>
      </pc:sldChg>
      <pc:sldChg chg="addSp modSp new mod setBg">
        <pc:chgData name="Enas Elhaj" userId="909fe75651c023c7" providerId="LiveId" clId="{BCAF93DC-8FE6-4D28-8D56-F37F50A19FF3}" dt="2025-11-21T03:13:06.905" v="33" actId="26606"/>
        <pc:sldMkLst>
          <pc:docMk/>
          <pc:sldMk cId="922368840" sldId="296"/>
        </pc:sldMkLst>
        <pc:spChg chg="mod">
          <ac:chgData name="Enas Elhaj" userId="909fe75651c023c7" providerId="LiveId" clId="{BCAF93DC-8FE6-4D28-8D56-F37F50A19FF3}" dt="2025-11-21T03:13:06.905" v="33" actId="26606"/>
          <ac:spMkLst>
            <pc:docMk/>
            <pc:sldMk cId="922368840" sldId="296"/>
            <ac:spMk id="2" creationId="{C1E9A8A0-ADE7-608B-3CD4-6F5583B5EF19}"/>
          </ac:spMkLst>
        </pc:spChg>
        <pc:spChg chg="mod">
          <ac:chgData name="Enas Elhaj" userId="909fe75651c023c7" providerId="LiveId" clId="{BCAF93DC-8FE6-4D28-8D56-F37F50A19FF3}" dt="2025-11-21T03:13:06.905" v="33" actId="26606"/>
          <ac:spMkLst>
            <pc:docMk/>
            <pc:sldMk cId="922368840" sldId="296"/>
            <ac:spMk id="3" creationId="{1FA8FEC6-8B0F-75D1-1482-D63E41EBEC65}"/>
          </ac:spMkLst>
        </pc:spChg>
        <pc:spChg chg="add">
          <ac:chgData name="Enas Elhaj" userId="909fe75651c023c7" providerId="LiveId" clId="{BCAF93DC-8FE6-4D28-8D56-F37F50A19FF3}" dt="2025-11-21T03:13:06.905" v="33" actId="26606"/>
          <ac:spMkLst>
            <pc:docMk/>
            <pc:sldMk cId="922368840" sldId="296"/>
            <ac:spMk id="8" creationId="{100EDD19-6802-4EC3-95CE-CFFAB042CFD6}"/>
          </ac:spMkLst>
        </pc:spChg>
        <pc:spChg chg="add">
          <ac:chgData name="Enas Elhaj" userId="909fe75651c023c7" providerId="LiveId" clId="{BCAF93DC-8FE6-4D28-8D56-F37F50A19FF3}" dt="2025-11-21T03:13:06.905" v="33" actId="26606"/>
          <ac:spMkLst>
            <pc:docMk/>
            <pc:sldMk cId="922368840" sldId="296"/>
            <ac:spMk id="10" creationId="{DB17E863-922E-4C26-BD64-E8FD41D28661}"/>
          </ac:spMkLst>
        </pc:spChg>
      </pc:sldChg>
      <pc:sldChg chg="addSp modSp new mod setBg">
        <pc:chgData name="Enas Elhaj" userId="909fe75651c023c7" providerId="LiveId" clId="{BCAF93DC-8FE6-4D28-8D56-F37F50A19FF3}" dt="2025-11-21T03:16:59.057" v="55" actId="26606"/>
        <pc:sldMkLst>
          <pc:docMk/>
          <pc:sldMk cId="2436435765" sldId="297"/>
        </pc:sldMkLst>
        <pc:spChg chg="mod">
          <ac:chgData name="Enas Elhaj" userId="909fe75651c023c7" providerId="LiveId" clId="{BCAF93DC-8FE6-4D28-8D56-F37F50A19FF3}" dt="2025-11-21T03:16:59.057" v="55" actId="26606"/>
          <ac:spMkLst>
            <pc:docMk/>
            <pc:sldMk cId="2436435765" sldId="297"/>
            <ac:spMk id="2" creationId="{4AB599E8-0CE3-7A79-91DC-6F11E8626350}"/>
          </ac:spMkLst>
        </pc:spChg>
        <pc:spChg chg="mod">
          <ac:chgData name="Enas Elhaj" userId="909fe75651c023c7" providerId="LiveId" clId="{BCAF93DC-8FE6-4D28-8D56-F37F50A19FF3}" dt="2025-11-21T03:16:59.057" v="55" actId="26606"/>
          <ac:spMkLst>
            <pc:docMk/>
            <pc:sldMk cId="2436435765" sldId="297"/>
            <ac:spMk id="3" creationId="{6B9BC026-6469-14BD-CCD0-828D09A0CC15}"/>
          </ac:spMkLst>
        </pc:spChg>
        <pc:spChg chg="add">
          <ac:chgData name="Enas Elhaj" userId="909fe75651c023c7" providerId="LiveId" clId="{BCAF93DC-8FE6-4D28-8D56-F37F50A19FF3}" dt="2025-11-21T03:16:59.057" v="55" actId="26606"/>
          <ac:spMkLst>
            <pc:docMk/>
            <pc:sldMk cId="2436435765" sldId="297"/>
            <ac:spMk id="8" creationId="{100EDD19-6802-4EC3-95CE-CFFAB042CFD6}"/>
          </ac:spMkLst>
        </pc:spChg>
        <pc:spChg chg="add">
          <ac:chgData name="Enas Elhaj" userId="909fe75651c023c7" providerId="LiveId" clId="{BCAF93DC-8FE6-4D28-8D56-F37F50A19FF3}" dt="2025-11-21T03:16:59.057" v="55" actId="26606"/>
          <ac:spMkLst>
            <pc:docMk/>
            <pc:sldMk cId="2436435765" sldId="297"/>
            <ac:spMk id="10" creationId="{DB17E863-922E-4C26-BD64-E8FD41D286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380D97-6F7D-4B28-AC11-463CF1B014E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F70B2-FD4B-49A8-8853-01B88B87BA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93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F70B2-FD4B-49A8-8853-01B88B87BA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733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F70B2-FD4B-49A8-8853-01B88B87BA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70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F70B2-FD4B-49A8-8853-01B88B87BA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157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F70B2-FD4B-49A8-8853-01B88B87BA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04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F70B2-FD4B-49A8-8853-01B88B87BA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35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F70B2-FD4B-49A8-8853-01B88B87BAA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83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F70B2-FD4B-49A8-8853-01B88B87BAA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74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F70B2-FD4B-49A8-8853-01B88B87BAA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40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F70B2-FD4B-49A8-8853-01B88B87BAA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00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F70B2-FD4B-49A8-8853-01B88B87BAA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40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036-B6D5-4299-A114-3ACF7420CA2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62-2F3F-4B27-9DDC-A3CA6E9E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01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036-B6D5-4299-A114-3ACF7420CA2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62-2F3F-4B27-9DDC-A3CA6E9E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37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036-B6D5-4299-A114-3ACF7420CA2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62-2F3F-4B27-9DDC-A3CA6E9E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15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036-B6D5-4299-A114-3ACF7420CA2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62-2F3F-4B27-9DDC-A3CA6E9E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7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036-B6D5-4299-A114-3ACF7420CA2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62-2F3F-4B27-9DDC-A3CA6E9E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89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036-B6D5-4299-A114-3ACF7420CA2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62-2F3F-4B27-9DDC-A3CA6E9E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07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036-B6D5-4299-A114-3ACF7420CA2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62-2F3F-4B27-9DDC-A3CA6E9E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6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036-B6D5-4299-A114-3ACF7420CA2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62-2F3F-4B27-9DDC-A3CA6E9E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6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036-B6D5-4299-A114-3ACF7420CA2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62-2F3F-4B27-9DDC-A3CA6E9E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9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036-B6D5-4299-A114-3ACF7420CA2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62-2F3F-4B27-9DDC-A3CA6E9E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8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036-B6D5-4299-A114-3ACF7420CA2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62-2F3F-4B27-9DDC-A3CA6E9E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29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28036-B6D5-4299-A114-3ACF7420CA2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DE762-2F3F-4B27-9DDC-A3CA6E9E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48CF83-D44A-2BDE-C6F6-F3F8208B8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dirty="0"/>
              <a:t>Calculus Behind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2CBD6-F016-F507-B3D9-1ED06D4F2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85262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/>
              <a:t>Deriving Backpropagation Using Partial Derivatives and the Chain Rule</a:t>
            </a:r>
            <a:br>
              <a:rPr lang="en-US" dirty="0"/>
            </a:br>
            <a:r>
              <a:rPr lang="en-US" i="1" dirty="0"/>
              <a:t>Essential Math for Data science- Project Presentation</a:t>
            </a:r>
            <a:br>
              <a:rPr lang="en-US" dirty="0"/>
            </a:br>
            <a:endParaRPr lang="en-US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D0264D-1B30-07CD-F7DC-570DD47B4DD6}"/>
              </a:ext>
            </a:extLst>
          </p:cNvPr>
          <p:cNvSpPr txBox="1"/>
          <p:nvPr/>
        </p:nvSpPr>
        <p:spPr>
          <a:xfrm>
            <a:off x="1645920" y="583590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Enas Elhaj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9312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54B48-5E2E-C40C-C4F2-F106D3B1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Objectives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246F1-B999-909C-8B70-CAA171965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dirty="0"/>
              <a:t>This project demonstrates how calculus enables learning in neural networks by:</a:t>
            </a:r>
          </a:p>
          <a:p>
            <a:pPr lvl="1"/>
            <a:r>
              <a:rPr lang="en-US" dirty="0"/>
              <a:t>Deriving backpropagation for a small neural network step-by-step</a:t>
            </a:r>
          </a:p>
          <a:p>
            <a:pPr lvl="1"/>
            <a:r>
              <a:rPr lang="en-US" dirty="0"/>
              <a:t>Applying partial derivatives and the chain rule to compute gradients</a:t>
            </a:r>
          </a:p>
          <a:p>
            <a:pPr lvl="1"/>
            <a:r>
              <a:rPr lang="en-US" dirty="0"/>
              <a:t>Optionally, implement and test the weights and biases updates in Python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64718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E9A8A0-ADE7-608B-3CD4-6F5583B5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Hypothesis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8FEC6-8B0F-75D1-1482-D63E41EBE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If we apply partial derivatives and the chain rule correctly through backpropagation, then we can compute accurate gradients that allow a neural network to reduce its error through gradient descent.</a:t>
            </a:r>
          </a:p>
        </p:txBody>
      </p:sp>
    </p:spTree>
    <p:extLst>
      <p:ext uri="{BB962C8B-B14F-4D97-AF65-F5344CB8AC3E}">
        <p14:creationId xmlns:p14="http://schemas.microsoft.com/office/powerpoint/2010/main" val="922368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7FC93-C550-874B-6FDE-9CEFF51C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 b="1" dirty="0"/>
              <a:t>learning in neural networks</a:t>
            </a:r>
            <a:endParaRPr lang="en-US" sz="5000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7565C-4656-D772-5D52-D330944E7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The flowchart shows the complete learning cycle of a neural network. </a:t>
            </a:r>
          </a:p>
          <a:p>
            <a:r>
              <a:rPr lang="en-US" sz="2200" dirty="0"/>
              <a:t>This project focuses on the </a:t>
            </a:r>
            <a:r>
              <a:rPr lang="en-US" sz="2200" b="1" dirty="0"/>
              <a:t>Backpropagation step</a:t>
            </a:r>
            <a:r>
              <a:rPr lang="en-US" sz="2200" dirty="0"/>
              <a:t>, where </a:t>
            </a:r>
            <a:r>
              <a:rPr lang="en-US" sz="2200" b="1" dirty="0"/>
              <a:t>chain rule and partial derivatives</a:t>
            </a:r>
            <a:r>
              <a:rPr lang="en-US" sz="2200" dirty="0"/>
              <a:t> drives the learning process.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C7116F-8552-0CB0-27B7-EB09180E17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1"/>
          <a:stretch>
            <a:fillRect/>
          </a:stretch>
        </p:blipFill>
        <p:spPr>
          <a:xfrm>
            <a:off x="6099048" y="707752"/>
            <a:ext cx="5458968" cy="54424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1C916A-32FE-668B-6251-85791834FF20}"/>
              </a:ext>
            </a:extLst>
          </p:cNvPr>
          <p:cNvSpPr txBox="1"/>
          <p:nvPr/>
        </p:nvSpPr>
        <p:spPr>
          <a:xfrm>
            <a:off x="7213600" y="6319458"/>
            <a:ext cx="363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1: learning in neural networks </a:t>
            </a:r>
          </a:p>
        </p:txBody>
      </p:sp>
    </p:spTree>
    <p:extLst>
      <p:ext uri="{BB962C8B-B14F-4D97-AF65-F5344CB8AC3E}">
        <p14:creationId xmlns:p14="http://schemas.microsoft.com/office/powerpoint/2010/main" val="869075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03354-AFFB-7A37-146F-DE3072DD2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Methods Explored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4315E-F4F1-A36D-5D86-58025CAF4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Method Overview</a:t>
            </a:r>
            <a:endParaRPr lang="en-US" sz="2200"/>
          </a:p>
          <a:p>
            <a:pPr lvl="1"/>
            <a:r>
              <a:rPr lang="en-US" sz="2200"/>
              <a:t>Define a small neural network (2 inputs → 2 hidden neurons → 1 output)</a:t>
            </a:r>
          </a:p>
          <a:p>
            <a:pPr lvl="1"/>
            <a:r>
              <a:rPr lang="en-US" sz="2200"/>
              <a:t>Compute forward pass and loss function</a:t>
            </a:r>
          </a:p>
          <a:p>
            <a:pPr lvl="1"/>
            <a:r>
              <a:rPr lang="en-US" sz="2200"/>
              <a:t>Derive gradients using partial derivatives + chain rule</a:t>
            </a:r>
          </a:p>
          <a:p>
            <a:pPr lvl="1"/>
            <a:r>
              <a:rPr lang="en-US" sz="2200"/>
              <a:t>Implement one step of gradient descent updates in Python</a:t>
            </a:r>
          </a:p>
          <a:p>
            <a:pPr marL="457200" lvl="1" indent="0">
              <a:buNone/>
            </a:pPr>
            <a:endParaRPr lang="en-US" sz="2200"/>
          </a:p>
          <a:p>
            <a:pPr lvl="1"/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458373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1E88EF-29AD-1E53-017C-7E32EF02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Composite Output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D8532964-505D-15FB-437B-74FC408C4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492" y="1817324"/>
            <a:ext cx="7804455" cy="33949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12F98B-DB6C-3C8A-A315-3E39BCDB0D91}"/>
                  </a:ext>
                </a:extLst>
              </p:cNvPr>
              <p:cNvSpPr txBox="1"/>
              <p:nvPr/>
            </p:nvSpPr>
            <p:spPr>
              <a:xfrm>
                <a:off x="572493" y="5239139"/>
                <a:ext cx="11018520" cy="1704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700" b="1" dirty="0"/>
                  <a:t>Network Output as a Composite Function</a:t>
                </a:r>
                <a:endParaRPr lang="en-US" sz="1700" dirty="0"/>
              </a:p>
              <a:p>
                <a:pPr lvl="2"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𝒙𝑾</m:t>
                            </m:r>
                            <m:r>
                              <a:rPr lang="en-US" sz="2800" b="1" baseline="-25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en-US" sz="2800" b="1" i="1" baseline="-25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𝒙𝑾</m:t>
                            </m:r>
                            <m:r>
                              <a:rPr lang="en-US" sz="2800" b="1" baseline="-25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en-US" sz="2800" b="1" i="1" baseline="-25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700" dirty="0"/>
                  <a:t>The output is a </a:t>
                </a:r>
                <a:r>
                  <a:rPr lang="en-US" sz="1700" b="1" dirty="0"/>
                  <a:t>composition of linear transformations and activation functions</a:t>
                </a:r>
                <a:r>
                  <a:rPr lang="en-US" sz="1700" dirty="0"/>
                  <a:t>, which is why gradients must be computed using the chain rule.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12F98B-DB6C-3C8A-A315-3E39BCDB0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93" y="5239139"/>
                <a:ext cx="11018520" cy="1704697"/>
              </a:xfrm>
              <a:prstGeom prst="rect">
                <a:avLst/>
              </a:prstGeom>
              <a:blipFill>
                <a:blip r:embed="rId3"/>
                <a:stretch>
                  <a:fillRect l="-387" t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E5C1CD2-ADA5-9751-50C4-F9745C95844A}"/>
              </a:ext>
            </a:extLst>
          </p:cNvPr>
          <p:cNvSpPr txBox="1"/>
          <p:nvPr/>
        </p:nvSpPr>
        <p:spPr>
          <a:xfrm>
            <a:off x="6390640" y="4693539"/>
            <a:ext cx="323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2: Forward Propagation </a:t>
            </a:r>
          </a:p>
        </p:txBody>
      </p:sp>
    </p:spTree>
    <p:extLst>
      <p:ext uri="{BB962C8B-B14F-4D97-AF65-F5344CB8AC3E}">
        <p14:creationId xmlns:p14="http://schemas.microsoft.com/office/powerpoint/2010/main" val="3937901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ACEC6-C4AF-6FE1-426A-24361E31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Loss Function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214E6E-7392-5F37-B827-2765B62732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r>
                  <a:rPr lang="en-US" sz="2200" b="1" dirty="0"/>
                  <a:t>Loss function (Prediction Error)</a:t>
                </a:r>
                <a:r>
                  <a:rPr lang="en-US" sz="2200" dirty="0"/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200" b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ar-AE" sz="2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d>
                        <m:dPr>
                          <m:endChr m:val=""/>
                          <m:ctrlPr>
                            <a:rPr lang="ar-AE" sz="2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200" b="1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ar-AE" sz="2200" b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sz="22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2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  <m:sSup>
                            <m:sSupPr>
                              <m:ctrlPr>
                                <a:rPr lang="ar-AE" sz="2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200" b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2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b="1" dirty="0">
                  <a:latin typeface="+mj-lt"/>
                </a:endParaRPr>
              </a:p>
              <a:p>
                <a:pPr marL="457200" lvl="1" indent="0">
                  <a:buNone/>
                </a:pPr>
                <a:endParaRPr lang="ar-AE" sz="2200" b="1" dirty="0">
                  <a:latin typeface="+mj-lt"/>
                </a:endParaRPr>
              </a:p>
              <a:p>
                <a:r>
                  <a:rPr lang="en-US" sz="2200" b="1" dirty="0"/>
                  <a:t>Purpose:</a:t>
                </a:r>
                <a:br>
                  <a:rPr lang="en-US" sz="2200" dirty="0"/>
                </a:br>
                <a:r>
                  <a:rPr lang="en-US" sz="2200" dirty="0"/>
                  <a:t>The network learns by adjusting weights and biases to </a:t>
                </a:r>
                <a:r>
                  <a:rPr lang="en-US" sz="2200" b="1" dirty="0"/>
                  <a:t>reduce the loss</a:t>
                </a:r>
                <a:r>
                  <a:rPr lang="en-US" sz="2200" dirty="0"/>
                  <a:t>.</a:t>
                </a:r>
                <a:endParaRPr lang="en-US" sz="22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214E6E-7392-5F37-B827-2765B62732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3"/>
                <a:stretch>
                  <a:fillRect l="-696" t="-1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546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4C18A-FB6E-B091-B224-C28CB3F67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Why the Chain Rule is Needed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2CC7F7-3317-559D-D700-15C7FE63B9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r>
                  <a:rPr lang="en-US" sz="2200" b="1" dirty="0"/>
                  <a:t>Why Chain Rule is Needed?</a:t>
                </a:r>
              </a:p>
              <a:p>
                <a:r>
                  <a:rPr lang="en-US" sz="2200" dirty="0"/>
                  <a:t>Because each parameter affects the loss </a:t>
                </a:r>
                <a:r>
                  <a:rPr lang="en-US" sz="2200" b="1" dirty="0"/>
                  <a:t>indirectly</a:t>
                </a:r>
                <a:r>
                  <a:rPr lang="en-US" sz="2200" dirty="0"/>
                  <a:t> through multiple layers.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2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2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sz="22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ar-AE" sz="220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2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2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 sz="22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ar-AE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den>
                    </m:f>
                    <m:r>
                      <a:rPr lang="ar-AE" sz="1800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num>
                      <m:den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ar-AE" sz="1800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ar-AE" sz="1800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ar-AE" sz="1800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ar-AE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i="1" dirty="0"/>
                  <a:t>​​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 sz="180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den>
                    </m:f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 sz="1800"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den>
                    </m:f>
                    <m:r>
                      <a:rPr lang="ar-AE" sz="180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num>
                      <m:den>
                        <m:r>
                          <a:rPr lang="ar-AE" sz="180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ar-AE" sz="180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ar-AE" sz="180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ar-AE" sz="180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 sz="180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ar-AE" sz="180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 sz="180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den>
                    </m:f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ar-AE" sz="2200" dirty="0"/>
              </a:p>
              <a:p>
                <a:r>
                  <a:rPr lang="en-US" sz="2200" dirty="0"/>
                  <a:t>To compute these, we apply the chain rule backwards through the network, this is </a:t>
                </a:r>
                <a:r>
                  <a:rPr lang="en-US" sz="2200" b="1" dirty="0"/>
                  <a:t>backpropagation</a:t>
                </a:r>
                <a:r>
                  <a:rPr lang="en-US" sz="2200" dirty="0"/>
                  <a:t>.</a:t>
                </a:r>
                <a:endParaRPr lang="ar-AE" sz="2200" dirty="0"/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2CC7F7-3317-559D-D700-15C7FE63B9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696" t="-1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4366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4D5D0A-261A-292C-5563-A9A05E5E9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Backpropagation in Neural Networks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10">
            <a:extLst>
              <a:ext uri="{FF2B5EF4-FFF2-40B4-BE49-F238E27FC236}">
                <a16:creationId xmlns:a16="http://schemas.microsoft.com/office/drawing/2014/main" id="{D0D6C7D4-1F43-CC1A-D091-F74D1F7D99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8176" y="2108094"/>
            <a:ext cx="9049946" cy="3959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3D1F5E-1BC2-74A0-AE27-F13E835FE288}"/>
                  </a:ext>
                </a:extLst>
              </p:cNvPr>
              <p:cNvSpPr txBox="1"/>
              <p:nvPr/>
            </p:nvSpPr>
            <p:spPr>
              <a:xfrm>
                <a:off x="6695440" y="2277728"/>
                <a:ext cx="3738880" cy="812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𝑳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𝑳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𝝏</m:t>
                        </m:r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𝝏</m:t>
                        </m:r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𝒛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𝒛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𝝏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i="1" dirty="0"/>
                  <a:t>​​ </a:t>
                </a:r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3D1F5E-1BC2-74A0-AE27-F13E835FE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440" y="2277728"/>
                <a:ext cx="3738880" cy="8124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2A6ED2A-5AA8-CFEB-7DC6-20707808593C}"/>
              </a:ext>
            </a:extLst>
          </p:cNvPr>
          <p:cNvSpPr txBox="1"/>
          <p:nvPr/>
        </p:nvSpPr>
        <p:spPr>
          <a:xfrm>
            <a:off x="3017520" y="6067446"/>
            <a:ext cx="448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3: Backpropagation in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1982579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12CE38-6F6E-8A68-EA96-AED14CC03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066CE-CD62-3249-48FF-1CA1B4D6B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Use Case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C99E6-911E-949B-289C-0B112BC5C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Why a Small Network Here</a:t>
            </a:r>
            <a:endParaRPr lang="en-US" sz="2200"/>
          </a:p>
          <a:p>
            <a:pPr lvl="1"/>
            <a:r>
              <a:rPr lang="en-US" sz="2200"/>
              <a:t>Makes every derivative and update step fully visible </a:t>
            </a:r>
          </a:p>
          <a:p>
            <a:pPr lvl="1"/>
            <a:r>
              <a:rPr lang="en-US" sz="2200"/>
              <a:t>Shows how </a:t>
            </a:r>
            <a:r>
              <a:rPr lang="en-US" sz="2200" b="1"/>
              <a:t>calculus enables learning</a:t>
            </a:r>
            <a:r>
              <a:rPr lang="en-US" sz="2200"/>
              <a:t>, especially the </a:t>
            </a:r>
            <a:r>
              <a:rPr lang="en-US" sz="2200" b="1"/>
              <a:t>chain rule</a:t>
            </a:r>
            <a:endParaRPr lang="en-US" sz="2200"/>
          </a:p>
          <a:p>
            <a:pPr lvl="1"/>
            <a:r>
              <a:rPr lang="en-US" sz="2200"/>
              <a:t>Improves conceptual understanding before scaling to complex architectures.</a:t>
            </a:r>
          </a:p>
          <a:p>
            <a:pPr lvl="1"/>
            <a:endParaRPr lang="en-US" sz="2200"/>
          </a:p>
          <a:p>
            <a:r>
              <a:rPr lang="en-US" sz="2200" b="1"/>
              <a:t>Neural Networks at Scale</a:t>
            </a:r>
            <a:endParaRPr lang="en-US" sz="2200"/>
          </a:p>
          <a:p>
            <a:r>
              <a:rPr lang="en-US" sz="2200"/>
              <a:t>Real applications contain </a:t>
            </a:r>
            <a:r>
              <a:rPr lang="en-US" sz="2200" b="1"/>
              <a:t>thousands to millions of neurons</a:t>
            </a:r>
            <a:endParaRPr lang="en-US" sz="2200"/>
          </a:p>
          <a:p>
            <a:r>
              <a:rPr lang="en-US" sz="2200"/>
              <a:t>Examples:</a:t>
            </a:r>
          </a:p>
          <a:p>
            <a:pPr lvl="1"/>
            <a:r>
              <a:rPr lang="en-US" sz="2200"/>
              <a:t>Image recognition (e.g., face detection)</a:t>
            </a:r>
          </a:p>
          <a:p>
            <a:pPr lvl="1"/>
            <a:r>
              <a:rPr lang="en-US" sz="2200"/>
              <a:t>Speech and language processing (e.g., voice assistants)</a:t>
            </a:r>
          </a:p>
          <a:p>
            <a:pPr lvl="1"/>
            <a:r>
              <a:rPr lang="en-US" sz="2200"/>
              <a:t>Medical diagnosis (e.g., tumor classification)</a:t>
            </a:r>
          </a:p>
          <a:p>
            <a:endParaRPr lang="en-US" sz="2200"/>
          </a:p>
          <a:p>
            <a:endParaRPr lang="en-US" sz="2200"/>
          </a:p>
          <a:p>
            <a:pPr marL="0" indent="0">
              <a:buNone/>
            </a:pP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117539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E956EA-9DE7-4A7A-572D-A8F3B763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Manual Implementation (NumPy)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1510B-4D9A-A516-F47F-283887CD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Forward pass and loss calculation</a:t>
            </a:r>
          </a:p>
          <a:p>
            <a:r>
              <a:rPr lang="en-US" sz="2200"/>
              <a:t>Gradients computed with chain rule</a:t>
            </a:r>
          </a:p>
          <a:p>
            <a:r>
              <a:rPr lang="en-US" sz="2200"/>
              <a:t>One gradient-descent update applied</a:t>
            </a:r>
          </a:p>
          <a:p>
            <a:pPr lvl="1"/>
            <a:r>
              <a:rPr lang="en-US" sz="2200"/>
              <a:t>w2 -= lr * dL_dw2</a:t>
            </a:r>
          </a:p>
          <a:p>
            <a:pPr lvl="1"/>
            <a:r>
              <a:rPr lang="en-US" sz="2200"/>
              <a:t>b2 -= lr * dL_db2</a:t>
            </a:r>
          </a:p>
          <a:p>
            <a:pPr lvl="1"/>
            <a:r>
              <a:rPr lang="en-US" sz="2200"/>
              <a:t>w1 -= lr * dL_dw1</a:t>
            </a:r>
          </a:p>
          <a:p>
            <a:pPr lvl="1"/>
            <a:r>
              <a:rPr lang="en-US" sz="2200"/>
              <a:t>b1 -= lr * dL_db1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822338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EE9275-2026-76E9-A483-E6204F34C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Framework Implementation (sklearn)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0233C-B9BB-4460-715E-F5A98B7F7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Same architecture</a:t>
            </a:r>
          </a:p>
          <a:p>
            <a:r>
              <a:rPr lang="en-US" sz="2200"/>
              <a:t>Same activation</a:t>
            </a:r>
          </a:p>
          <a:p>
            <a:r>
              <a:rPr lang="en-US" sz="2200"/>
              <a:t>One update step</a:t>
            </a:r>
          </a:p>
          <a:p>
            <a:r>
              <a:rPr lang="en-US" sz="2200"/>
              <a:t>Framework performs backprop internally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688822-9E25-8CC7-1B38-6E13039CE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651" y="2573756"/>
            <a:ext cx="6142736" cy="290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43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6A2F06-335A-D698-6BA5-9608B382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Results &amp; Conclusion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9ACD4-2038-CF2E-D445-73B42A9DB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 dirty="0"/>
              <a:t>Results</a:t>
            </a:r>
          </a:p>
          <a:p>
            <a:pPr lvl="1"/>
            <a:r>
              <a:rPr lang="en-US" sz="2200" dirty="0"/>
              <a:t>Successfully computed all gradients for a real network example</a:t>
            </a:r>
          </a:p>
          <a:p>
            <a:pPr lvl="1"/>
            <a:r>
              <a:rPr lang="en-US" sz="2200" dirty="0"/>
              <a:t>Performed one full weight-update step using gradient descent</a:t>
            </a:r>
          </a:p>
          <a:p>
            <a:pPr lvl="1"/>
            <a:r>
              <a:rPr lang="en-US" sz="2200" dirty="0"/>
              <a:t>Confirmed that parameter updates follow gradient direction</a:t>
            </a:r>
          </a:p>
          <a:p>
            <a:r>
              <a:rPr lang="en-US" sz="2200" b="1" dirty="0"/>
              <a:t>Conclusion</a:t>
            </a:r>
            <a:endParaRPr lang="en-US" sz="2200" dirty="0"/>
          </a:p>
          <a:p>
            <a:pPr lvl="1"/>
            <a:r>
              <a:rPr lang="en-US" sz="2200" dirty="0"/>
              <a:t>Chain rule enables backpropagation.</a:t>
            </a:r>
          </a:p>
          <a:p>
            <a:pPr lvl="1"/>
            <a:r>
              <a:rPr lang="en-US" sz="2200" dirty="0"/>
              <a:t>Partial derivatives show how each parameter affects loss.</a:t>
            </a:r>
          </a:p>
          <a:p>
            <a:pPr lvl="1"/>
            <a:r>
              <a:rPr lang="en-US" sz="2200" dirty="0"/>
              <a:t>Without calculus, neural networks cannot learn, calculus is the learning engine.</a:t>
            </a:r>
          </a:p>
          <a:p>
            <a:pPr marL="457200" lvl="1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72267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06A34-2B93-CFF3-E292-492DDA356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A9E1F-241E-5460-A077-42115733B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Future Work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F6A74-9278-C90A-5B85-275A569EB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Extend to deeper or wider networks and other activations</a:t>
            </a:r>
          </a:p>
          <a:p>
            <a:r>
              <a:rPr lang="en-US" sz="2200"/>
              <a:t>Visualize loss curves and weight updates over time</a:t>
            </a:r>
          </a:p>
          <a:p>
            <a:r>
              <a:rPr lang="en-US" sz="2200"/>
              <a:t>Compare manual implementation with PyTorch/TensorFlow</a:t>
            </a:r>
          </a:p>
          <a:p>
            <a:r>
              <a:rPr lang="en-US" sz="2200"/>
              <a:t>Experiment with hyperparameters (learning rate, batch size)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500389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599E8-0CE3-7A79-91DC-6F11E8626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References</a:t>
            </a:r>
            <a:endParaRPr lang="en-U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BC026-6469-14BD-CCD0-828D09A0C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[1] Wikipedia contributors, Neural network (machine learning), 2025.</a:t>
            </a:r>
          </a:p>
          <a:p>
            <a:pPr marL="0" indent="0">
              <a:buNone/>
            </a:pPr>
            <a:r>
              <a:rPr lang="en-US" sz="2200"/>
              <a:t>[2] D. Maiolo, Understanding the Role of Calculus in Neural Networks for AI Advancement, 2024.</a:t>
            </a:r>
          </a:p>
          <a:p>
            <a:pPr marL="0" indent="0">
              <a:buNone/>
            </a:pPr>
            <a:r>
              <a:rPr lang="en-US" sz="2200"/>
              <a:t>[3] ApX Machine Learning, Introduction to Neural Networks as Composite Functions, 2025.</a:t>
            </a:r>
          </a:p>
          <a:p>
            <a:pPr marL="0" indent="0">
              <a:buNone/>
            </a:pPr>
            <a:r>
              <a:rPr lang="en-US" sz="2200"/>
              <a:t>[4] ApX Machine Learning, Backpropagation Algorithm and the Chain Rule, 2025.</a:t>
            </a:r>
          </a:p>
        </p:txBody>
      </p:sp>
    </p:spTree>
    <p:extLst>
      <p:ext uri="{BB962C8B-B14F-4D97-AF65-F5344CB8AC3E}">
        <p14:creationId xmlns:p14="http://schemas.microsoft.com/office/powerpoint/2010/main" val="2436435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C46E2-2D9C-5BB5-2DC2-5587239CC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pPr marL="0" indent="0" algn="ctr">
              <a:buNone/>
            </a:pPr>
            <a:endParaRPr lang="en-US" sz="7200" dirty="0"/>
          </a:p>
          <a:p>
            <a:pPr marL="0" indent="0" algn="ctr">
              <a:buNone/>
            </a:pPr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5855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5909</TotalTime>
  <Words>661</Words>
  <Application>Microsoft Office PowerPoint</Application>
  <PresentationFormat>Widescreen</PresentationFormat>
  <Paragraphs>101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Cambria Math</vt:lpstr>
      <vt:lpstr>Office 2013 - 2022 Theme</vt:lpstr>
      <vt:lpstr>Calculus Behind Neural Networks</vt:lpstr>
      <vt:lpstr>Objectives</vt:lpstr>
      <vt:lpstr>Hypothesis</vt:lpstr>
      <vt:lpstr>learning in neural networks</vt:lpstr>
      <vt:lpstr>Methods Explored</vt:lpstr>
      <vt:lpstr>Composite Output</vt:lpstr>
      <vt:lpstr>Loss Function</vt:lpstr>
      <vt:lpstr>Why the Chain Rule is Needed</vt:lpstr>
      <vt:lpstr>Backpropagation in Neural Networks</vt:lpstr>
      <vt:lpstr>Use Case</vt:lpstr>
      <vt:lpstr>Manual Implementation (NumPy)</vt:lpstr>
      <vt:lpstr>Framework Implementation (sklearn)</vt:lpstr>
      <vt:lpstr>Results &amp; Conclusion</vt:lpstr>
      <vt:lpstr>Future Work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Enas Elhaj</dc:creator>
  <cp:lastModifiedBy>Enas Elhaj</cp:lastModifiedBy>
  <cp:revision>1</cp:revision>
  <dcterms:created xsi:type="dcterms:W3CDTF">2025-10-29T16:42:27Z</dcterms:created>
  <dcterms:modified xsi:type="dcterms:W3CDTF">2025-11-29T02:29:59Z</dcterms:modified>
</cp:coreProperties>
</file>